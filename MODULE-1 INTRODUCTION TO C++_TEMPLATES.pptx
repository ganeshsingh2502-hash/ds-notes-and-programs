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725" y="6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93934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54727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39361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0350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00791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30517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20626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66714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01335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4312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437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69208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sz="4000" b="1" dirty="0">
                <a:solidFill>
                  <a:srgbClr val="BD582C">
                    <a:lumMod val="75000"/>
                  </a:srgbClr>
                </a:solidFill>
                <a:latin typeface="Calibri Light" panose="020F0302020204030204"/>
              </a:rPr>
              <a:t>MODULE-1 INTRODUCTION TO C++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</a:rPr>
              <a:t>TOPIC: </a:t>
            </a:r>
            <a:r>
              <a:rPr b="1" dirty="0">
                <a:solidFill>
                  <a:schemeClr val="bg2">
                    <a:lumMod val="25000"/>
                  </a:schemeClr>
                </a:solidFill>
              </a:rPr>
              <a:t>Templates in C++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F38D03B-0FA1-6B19-E354-CBFE017D8FF0}"/>
              </a:ext>
            </a:extLst>
          </p:cNvPr>
          <p:cNvGrpSpPr/>
          <p:nvPr/>
        </p:nvGrpSpPr>
        <p:grpSpPr>
          <a:xfrm>
            <a:off x="1036320" y="889769"/>
            <a:ext cx="10362571" cy="1806297"/>
            <a:chOff x="0" y="0"/>
            <a:chExt cx="6381539" cy="967536"/>
          </a:xfrm>
        </p:grpSpPr>
        <p:pic>
          <p:nvPicPr>
            <p:cNvPr id="5" name="Picture 4" descr="A logo with text on it&#10;&#10;AI-generated content may be incorrect.">
              <a:extLst>
                <a:ext uri="{FF2B5EF4-FFF2-40B4-BE49-F238E27FC236}">
                  <a16:creationId xmlns:a16="http://schemas.microsoft.com/office/drawing/2014/main" id="{09ACF4B4-BC06-C48B-754F-A87781F3E95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40943"/>
              <a:ext cx="1130935" cy="863600"/>
            </a:xfrm>
            <a:prstGeom prst="rect">
              <a:avLst/>
            </a:prstGeom>
          </p:spPr>
        </p:pic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01704D18-80AD-DF6C-CCC3-AA9CCC2F2661}"/>
                </a:ext>
              </a:extLst>
            </p:cNvPr>
            <p:cNvGrpSpPr/>
            <p:nvPr/>
          </p:nvGrpSpPr>
          <p:grpSpPr>
            <a:xfrm>
              <a:off x="1282889" y="0"/>
              <a:ext cx="5098650" cy="967536"/>
              <a:chOff x="1316693" y="0"/>
              <a:chExt cx="5098791" cy="967562"/>
            </a:xfrm>
          </p:grpSpPr>
          <p:pic>
            <p:nvPicPr>
              <p:cNvPr id="7" name="Picture 6" descr="A logo with a ribbon and a logo&#10;&#10;AI-generated content may be incorrect.">
                <a:extLst>
                  <a:ext uri="{FF2B5EF4-FFF2-40B4-BE49-F238E27FC236}">
                    <a16:creationId xmlns:a16="http://schemas.microsoft.com/office/drawing/2014/main" id="{82275497-9996-25D5-93A7-35CBF679EBB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151495" y="197986"/>
                <a:ext cx="1263989" cy="495069"/>
              </a:xfrm>
              <a:prstGeom prst="rect">
                <a:avLst/>
              </a:prstGeom>
            </p:spPr>
          </p:pic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id="{0FF26605-B5CC-5C22-A238-6C61DBA17BCA}"/>
                  </a:ext>
                </a:extLst>
              </p:cNvPr>
              <p:cNvCxnSpPr/>
              <p:nvPr/>
            </p:nvCxnSpPr>
            <p:spPr>
              <a:xfrm>
                <a:off x="1316693" y="60198"/>
                <a:ext cx="0" cy="828022"/>
              </a:xfrm>
              <a:prstGeom prst="line">
                <a:avLst/>
              </a:prstGeom>
              <a:ln w="63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EFD78128-C6AE-ED0E-E222-31934ED0CCC6}"/>
                  </a:ext>
                </a:extLst>
              </p:cNvPr>
              <p:cNvSpPr/>
              <p:nvPr/>
            </p:nvSpPr>
            <p:spPr>
              <a:xfrm>
                <a:off x="1316693" y="0"/>
                <a:ext cx="3984582" cy="96756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lnSpc>
                    <a:spcPct val="150000"/>
                  </a:lnSpc>
                  <a:spcAft>
                    <a:spcPts val="800"/>
                  </a:spcAft>
                  <a:buNone/>
                </a:pPr>
                <a:r>
                  <a:rPr lang="en-IN" sz="1600" kern="100" dirty="0">
                    <a:solidFill>
                      <a:srgbClr val="000000"/>
                    </a:solidFill>
                    <a:effectLst/>
                    <a:latin typeface="Raleway" pitchFamily="2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Autonomous Institute, Affiliated to </a:t>
                </a:r>
                <a:r>
                  <a:rPr lang="en-IN" sz="1600" b="1" kern="100" dirty="0">
                    <a:solidFill>
                      <a:srgbClr val="000000"/>
                    </a:solidFill>
                    <a:effectLst/>
                    <a:latin typeface="Raleway" pitchFamily="2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JNTUH,</a:t>
                </a:r>
                <a:endParaRPr lang="en-IN" sz="1600" kern="100" dirty="0">
                  <a:effectLst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  <a:spcAft>
                    <a:spcPts val="800"/>
                  </a:spcAft>
                  <a:buNone/>
                </a:pPr>
                <a:r>
                  <a:rPr lang="en-IN" sz="1600" kern="100" dirty="0">
                    <a:solidFill>
                      <a:srgbClr val="000000"/>
                    </a:solidFill>
                    <a:effectLst/>
                    <a:latin typeface="Raleway" pitchFamily="2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Approved by </a:t>
                </a:r>
                <a:r>
                  <a:rPr lang="en-IN" sz="1600" b="1" kern="100" dirty="0">
                    <a:solidFill>
                      <a:srgbClr val="000000"/>
                    </a:solidFill>
                    <a:effectLst/>
                    <a:latin typeface="Raleway" pitchFamily="2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AICTE, </a:t>
                </a:r>
                <a:r>
                  <a:rPr lang="en-IN" sz="1600" kern="100" dirty="0">
                    <a:solidFill>
                      <a:srgbClr val="000000"/>
                    </a:solidFill>
                    <a:effectLst/>
                    <a:latin typeface="Raleway" pitchFamily="2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Accredited by </a:t>
                </a:r>
                <a:r>
                  <a:rPr lang="en-IN" sz="1600" b="1" kern="100" dirty="0">
                    <a:solidFill>
                      <a:srgbClr val="000000"/>
                    </a:solidFill>
                    <a:effectLst/>
                    <a:latin typeface="Raleway" pitchFamily="2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NAAC </a:t>
                </a:r>
                <a:r>
                  <a:rPr lang="en-IN" sz="1600" kern="100" dirty="0">
                    <a:solidFill>
                      <a:srgbClr val="000000"/>
                    </a:solidFill>
                    <a:effectLst/>
                    <a:latin typeface="Raleway" pitchFamily="2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with </a:t>
                </a:r>
                <a:r>
                  <a:rPr lang="en-IN" sz="1600" b="1" kern="100" dirty="0">
                    <a:solidFill>
                      <a:srgbClr val="000000"/>
                    </a:solidFill>
                    <a:effectLst/>
                    <a:latin typeface="Raleway" pitchFamily="2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A</a:t>
                </a:r>
                <a:r>
                  <a:rPr lang="en-IN" sz="1600" kern="100" dirty="0">
                    <a:solidFill>
                      <a:srgbClr val="000000"/>
                    </a:solidFill>
                    <a:effectLst/>
                    <a:latin typeface="Raleway" pitchFamily="2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++ Grade</a:t>
                </a:r>
                <a:endParaRPr lang="en-IN" sz="1600" kern="100" dirty="0">
                  <a:effectLst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  <a:spcAft>
                    <a:spcPts val="800"/>
                  </a:spcAft>
                  <a:buNone/>
                </a:pPr>
                <a:r>
                  <a:rPr lang="en-IN" sz="1600" kern="100" dirty="0">
                    <a:solidFill>
                      <a:srgbClr val="000000"/>
                    </a:solidFill>
                    <a:effectLst/>
                    <a:latin typeface="Raleway" pitchFamily="2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Kacharam, Shamshabad, Hyderabad- 501 218,</a:t>
                </a:r>
                <a:r>
                  <a:rPr lang="en-IN" sz="1600" kern="100" dirty="0">
                    <a:ea typeface="Aptos" panose="020B000402020202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IN" sz="1600" kern="100" dirty="0">
                    <a:solidFill>
                      <a:srgbClr val="000000"/>
                    </a:solidFill>
                    <a:effectLst/>
                    <a:latin typeface="Raleway" pitchFamily="2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Telangana, India.</a:t>
                </a:r>
                <a:endParaRPr lang="en-IN" sz="1600" kern="100" dirty="0">
                  <a:effectLst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</p:txBody>
          </p:sp>
        </p:grp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1E32ED1C-FE9C-D620-82A8-01701D884573}"/>
              </a:ext>
            </a:extLst>
          </p:cNvPr>
          <p:cNvSpPr txBox="1"/>
          <p:nvPr/>
        </p:nvSpPr>
        <p:spPr>
          <a:xfrm>
            <a:off x="8986101" y="5267463"/>
            <a:ext cx="304701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Aptos" panose="020B0004020202020204" pitchFamily="34" charset="0"/>
              </a:rPr>
              <a:t>Presented By, </a:t>
            </a:r>
          </a:p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Aptos" panose="020B0004020202020204" pitchFamily="34" charset="0"/>
              </a:rPr>
              <a:t>Mr. Ganesh Deshmukh,</a:t>
            </a:r>
          </a:p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Aptos" panose="020B0004020202020204" pitchFamily="34" charset="0"/>
              </a:rPr>
              <a:t>Assistant Professor, CSE</a:t>
            </a:r>
            <a:endParaRPr lang="en-IN" b="1" dirty="0">
              <a:solidFill>
                <a:schemeClr val="bg2">
                  <a:lumMod val="25000"/>
                </a:schemeClr>
              </a:solidFill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1" dirty="0">
                <a:solidFill>
                  <a:srgbClr val="0070C0"/>
                </a:solidFill>
                <a:latin typeface="Aptos" panose="020B0004020202020204" pitchFamily="34" charset="0"/>
              </a:rPr>
              <a:t>Session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dirty="0"/>
              <a:t>Understand concept of templates in C++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dirty="0"/>
              <a:t>Explain function templates and class templates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dirty="0"/>
              <a:t>Apply generic programming using templates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dirty="0"/>
              <a:t>Implement template function overloading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dirty="0"/>
              <a:t>Differentiate normal functions and template functions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1" dirty="0">
                <a:solidFill>
                  <a:srgbClr val="0070C0"/>
                </a:solidFill>
                <a:latin typeface="Aptos" panose="020B0004020202020204" pitchFamily="34" charset="0"/>
              </a:rPr>
              <a:t>What is a Template in C++?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template is a feature of C++ that allows writing</a:t>
            </a:r>
          </a:p>
          <a:p>
            <a:r>
              <a:t>generic and reusable code for different data types.</a:t>
            </a:r>
          </a:p>
          <a:p>
            <a:endParaRPr/>
          </a:p>
          <a:p>
            <a:r>
              <a:t>Template = Generic Programming</a:t>
            </a:r>
          </a:p>
          <a:p>
            <a:r>
              <a:t>Write once, use for multiple data types.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1" dirty="0">
                <a:solidFill>
                  <a:srgbClr val="0070C0"/>
                </a:solidFill>
                <a:latin typeface="Aptos" panose="020B0004020202020204" pitchFamily="34" charset="0"/>
              </a:rPr>
              <a:t>Need of Templates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Avoid code duplication</a:t>
            </a:r>
          </a:p>
          <a:p>
            <a:r>
              <a:t>• Support generic programming</a:t>
            </a:r>
          </a:p>
          <a:p>
            <a:r>
              <a:t>• Increase code reusability</a:t>
            </a:r>
          </a:p>
          <a:p>
            <a:r>
              <a:t>• Work with multiple data types (int, float, double, etc.)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1" dirty="0">
                <a:solidFill>
                  <a:srgbClr val="0070C0"/>
                </a:solidFill>
                <a:latin typeface="Aptos" panose="020B0004020202020204" pitchFamily="34" charset="0"/>
              </a:rPr>
              <a:t>Real World Analogy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Template = Blueprint or Mould</a:t>
            </a:r>
          </a:p>
          <a:p>
            <a:r>
              <a:t>One mould can create multiple objects of</a:t>
            </a:r>
          </a:p>
          <a:p>
            <a:r>
              <a:t>different materials (plastic, metal, etc.)</a:t>
            </a:r>
          </a:p>
          <a:p>
            <a:endParaRPr/>
          </a:p>
          <a:p>
            <a:r>
              <a:t>Similarly, templates work for multiple data types.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1" dirty="0">
                <a:solidFill>
                  <a:srgbClr val="0070C0"/>
                </a:solidFill>
                <a:latin typeface="Aptos" panose="020B0004020202020204" pitchFamily="34" charset="0"/>
              </a:rPr>
              <a:t>Types of Templates in C++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Function Template</a:t>
            </a:r>
          </a:p>
          <a:p>
            <a:r>
              <a:t>2. Class Template</a:t>
            </a:r>
          </a:p>
          <a:p>
            <a:endParaRPr/>
          </a:p>
          <a:p>
            <a:r>
              <a:t>Both support Generic Programming in C++.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1" dirty="0">
                <a:solidFill>
                  <a:srgbClr val="0070C0"/>
                </a:solidFill>
                <a:latin typeface="Aptos" panose="020B0004020202020204" pitchFamily="34" charset="0"/>
              </a:rPr>
              <a:t>Function Template – Definition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function template is a generic function</a:t>
            </a:r>
          </a:p>
          <a:p>
            <a:r>
              <a:t>that works with different data types.</a:t>
            </a:r>
          </a:p>
          <a:p>
            <a:endParaRPr/>
          </a:p>
          <a:p>
            <a:r>
              <a:t>Defined using template keyword.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1" dirty="0">
                <a:solidFill>
                  <a:srgbClr val="0070C0"/>
                </a:solidFill>
                <a:latin typeface="Aptos" panose="020B0004020202020204" pitchFamily="34" charset="0"/>
              </a:rPr>
              <a:t>Syntax of Function Template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template &lt;class T&gt;</a:t>
            </a:r>
          </a:p>
          <a:p>
            <a:r>
              <a:t>T functionName(T a, T b) {</a:t>
            </a:r>
          </a:p>
          <a:p>
            <a:r>
              <a:t>    // function body</a:t>
            </a:r>
          </a:p>
          <a:p>
            <a:r>
              <a:t>}</a:t>
            </a:r>
          </a:p>
          <a:p>
            <a:endParaRPr/>
          </a:p>
          <a:p>
            <a:r>
              <a:t>T is a template parameter (generic type).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1" dirty="0">
                <a:solidFill>
                  <a:srgbClr val="0070C0"/>
                </a:solidFill>
                <a:latin typeface="Aptos" panose="020B0004020202020204" pitchFamily="34" charset="0"/>
              </a:rPr>
              <a:t>Program: Function Template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#include &lt;iostream&gt;</a:t>
            </a:r>
          </a:p>
          <a:p>
            <a:r>
              <a:rPr dirty="0"/>
              <a:t>using namespace std;</a:t>
            </a:r>
          </a:p>
          <a:p>
            <a:endParaRPr dirty="0"/>
          </a:p>
          <a:p>
            <a:r>
              <a:rPr dirty="0"/>
              <a:t>template &lt;class T&gt;</a:t>
            </a:r>
          </a:p>
          <a:p>
            <a:r>
              <a:rPr dirty="0"/>
              <a:t>T add(T a, T b) {</a:t>
            </a:r>
          </a:p>
          <a:p>
            <a:r>
              <a:rPr dirty="0"/>
              <a:t>    return a + b;</a:t>
            </a:r>
          </a:p>
          <a:p>
            <a:r>
              <a:rPr dirty="0"/>
              <a:t>}</a:t>
            </a:r>
          </a:p>
          <a:p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5944300-8E39-3C0C-ACEC-3EDBD502806C}"/>
              </a:ext>
            </a:extLst>
          </p:cNvPr>
          <p:cNvSpPr txBox="1"/>
          <p:nvPr/>
        </p:nvSpPr>
        <p:spPr>
          <a:xfrm>
            <a:off x="5234233" y="1916792"/>
            <a:ext cx="6094428" cy="17389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" indent="-91440" defTabSz="91440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</a:pPr>
            <a:r>
              <a:rPr lang="en-I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int main() {</a:t>
            </a:r>
          </a:p>
          <a:p>
            <a:pPr marL="91440" indent="-91440" defTabSz="91440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</a:pPr>
            <a:r>
              <a:rPr lang="en-I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</a:t>
            </a:r>
            <a:r>
              <a:rPr lang="en-IN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cout</a:t>
            </a:r>
            <a:r>
              <a:rPr lang="en-I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&lt;&lt; add(10, 20) &lt;&lt; </a:t>
            </a:r>
            <a:r>
              <a:rPr lang="en-IN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endl</a:t>
            </a:r>
            <a:r>
              <a:rPr lang="en-I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;</a:t>
            </a:r>
          </a:p>
          <a:p>
            <a:pPr marL="91440" indent="-91440" defTabSz="91440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</a:pPr>
            <a:r>
              <a:rPr lang="en-I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</a:t>
            </a:r>
            <a:r>
              <a:rPr lang="en-IN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cout</a:t>
            </a:r>
            <a:r>
              <a:rPr lang="en-I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&lt;&lt; add(2.5, 3.5);</a:t>
            </a:r>
          </a:p>
          <a:p>
            <a:pPr marL="91440" indent="-91440" defTabSz="91440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</a:pPr>
            <a:r>
              <a:rPr lang="en-I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}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1" dirty="0">
                <a:solidFill>
                  <a:srgbClr val="0070C0"/>
                </a:solidFill>
                <a:latin typeface="Aptos" panose="020B0004020202020204" pitchFamily="34" charset="0"/>
              </a:rPr>
              <a:t>Explanation: Function Template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template &lt;class T&gt; → Declares generic type</a:t>
            </a:r>
          </a:p>
          <a:p>
            <a:r>
              <a:t>• T replaces data type (int, float, etc.)</a:t>
            </a:r>
          </a:p>
          <a:p>
            <a:r>
              <a:t>• Same function works for multiple data types</a:t>
            </a:r>
          </a:p>
          <a:p>
            <a:r>
              <a:t>• Compiler generates appropriate function automatically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1" dirty="0">
                <a:solidFill>
                  <a:srgbClr val="0070C0"/>
                </a:solidFill>
                <a:latin typeface="Aptos" panose="020B0004020202020204" pitchFamily="34" charset="0"/>
              </a:rPr>
              <a:t>Class Template – Definition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class template is a generic class that can</a:t>
            </a:r>
          </a:p>
          <a:p>
            <a:r>
              <a:t>operate with different data types.</a:t>
            </a:r>
          </a:p>
          <a:p>
            <a:endParaRPr/>
          </a:p>
          <a:p>
            <a:r>
              <a:t>Useful in STL containers like vector, list, map.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1" dirty="0">
                <a:solidFill>
                  <a:srgbClr val="0070C0"/>
                </a:solidFill>
                <a:latin typeface="Aptos" panose="020B0004020202020204" pitchFamily="34" charset="0"/>
              </a:rPr>
              <a:t>Syntax of Class Template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template &lt;class T&gt;</a:t>
            </a:r>
          </a:p>
          <a:p>
            <a:r>
              <a:t>class ClassName {</a:t>
            </a:r>
          </a:p>
          <a:p>
            <a:r>
              <a:t>    T data;</a:t>
            </a:r>
          </a:p>
          <a:p>
            <a:r>
              <a:t>public:</a:t>
            </a:r>
          </a:p>
          <a:p>
            <a:r>
              <a:t>    void setData(T x) { data = x; }</a:t>
            </a:r>
          </a:p>
          <a:p>
            <a:r>
              <a:t>    T getData() { return data; }</a:t>
            </a:r>
          </a:p>
          <a:p>
            <a:r>
              <a:t>};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1" dirty="0">
                <a:solidFill>
                  <a:srgbClr val="0070C0"/>
                </a:solidFill>
                <a:latin typeface="Aptos" panose="020B0004020202020204" pitchFamily="34" charset="0"/>
              </a:rPr>
              <a:t>Program: Class Template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dirty="0"/>
              <a:t>#include &lt;iostream&gt;</a:t>
            </a:r>
          </a:p>
          <a:p>
            <a:r>
              <a:rPr dirty="0"/>
              <a:t>using namespace std;</a:t>
            </a:r>
          </a:p>
          <a:p>
            <a:endParaRPr dirty="0"/>
          </a:p>
          <a:p>
            <a:r>
              <a:rPr dirty="0"/>
              <a:t>template &lt;class T&gt;</a:t>
            </a:r>
          </a:p>
          <a:p>
            <a:r>
              <a:rPr dirty="0"/>
              <a:t>class Demo {</a:t>
            </a:r>
          </a:p>
          <a:p>
            <a:r>
              <a:rPr dirty="0"/>
              <a:t>    T data;</a:t>
            </a:r>
          </a:p>
          <a:p>
            <a:r>
              <a:rPr dirty="0"/>
              <a:t>public:</a:t>
            </a:r>
          </a:p>
          <a:p>
            <a:r>
              <a:rPr dirty="0"/>
              <a:t>    void </a:t>
            </a:r>
            <a:r>
              <a:rPr dirty="0" err="1"/>
              <a:t>setData</a:t>
            </a:r>
            <a:r>
              <a:rPr dirty="0"/>
              <a:t>(T x) { data = x; }</a:t>
            </a:r>
          </a:p>
          <a:p>
            <a:r>
              <a:rPr dirty="0"/>
              <a:t>    void display() { </a:t>
            </a:r>
            <a:r>
              <a:rPr dirty="0" err="1"/>
              <a:t>cout</a:t>
            </a:r>
            <a:r>
              <a:rPr dirty="0"/>
              <a:t> &lt;&lt; data; }</a:t>
            </a:r>
          </a:p>
          <a:p>
            <a:r>
              <a:rPr dirty="0"/>
              <a:t>};</a:t>
            </a:r>
          </a:p>
          <a:p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F934DA-0AA0-ABCC-FD4D-E921BD5BFDDD}"/>
              </a:ext>
            </a:extLst>
          </p:cNvPr>
          <p:cNvSpPr txBox="1"/>
          <p:nvPr/>
        </p:nvSpPr>
        <p:spPr>
          <a:xfrm>
            <a:off x="5526465" y="1737360"/>
            <a:ext cx="6094428" cy="18312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  <a:p>
            <a:r>
              <a:rPr lang="en-IN" sz="1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int main() {</a:t>
            </a:r>
          </a:p>
          <a:p>
            <a:r>
              <a:rPr lang="en-IN" sz="1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Demo&lt;int&gt; d1;</a:t>
            </a:r>
          </a:p>
          <a:p>
            <a:r>
              <a:rPr lang="en-IN" sz="1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d1.setData(100);</a:t>
            </a:r>
          </a:p>
          <a:p>
            <a:r>
              <a:rPr lang="en-IN" sz="1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d1.display();</a:t>
            </a:r>
          </a:p>
          <a:p>
            <a:r>
              <a:rPr lang="en-IN" sz="1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}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1" dirty="0">
                <a:solidFill>
                  <a:srgbClr val="0070C0"/>
                </a:solidFill>
                <a:latin typeface="Aptos" panose="020B0004020202020204" pitchFamily="34" charset="0"/>
              </a:rPr>
              <a:t>Generic Programming using Templates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Generic Programming means writing code that</a:t>
            </a:r>
          </a:p>
          <a:p>
            <a:r>
              <a:t>works for all data types using templates.</a:t>
            </a:r>
          </a:p>
          <a:p>
            <a:endParaRPr/>
          </a:p>
          <a:p>
            <a:r>
              <a:t>Example:</a:t>
            </a:r>
          </a:p>
          <a:p>
            <a:r>
              <a:t>One function for int, float, double using template.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1" dirty="0">
                <a:solidFill>
                  <a:srgbClr val="0070C0"/>
                </a:solidFill>
                <a:latin typeface="Aptos" panose="020B0004020202020204" pitchFamily="34" charset="0"/>
              </a:rPr>
              <a:t>Template Function Overloading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Template overloading means defining multiple</a:t>
            </a:r>
          </a:p>
          <a:p>
            <a:r>
              <a:t>template functions with different parameters</a:t>
            </a:r>
          </a:p>
          <a:p>
            <a:r>
              <a:t>or data types.</a:t>
            </a:r>
          </a:p>
          <a:p>
            <a:endParaRPr/>
          </a:p>
          <a:p>
            <a:r>
              <a:t>Compiler selects best match automatically.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1" dirty="0">
                <a:solidFill>
                  <a:srgbClr val="0070C0"/>
                </a:solidFill>
                <a:latin typeface="Aptos" panose="020B0004020202020204" pitchFamily="34" charset="0"/>
              </a:rPr>
              <a:t>Program: Template Function Overloading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sz="2100" dirty="0"/>
              <a:t>#include &lt;iostream&gt;</a:t>
            </a:r>
          </a:p>
          <a:p>
            <a:r>
              <a:rPr sz="2100" dirty="0"/>
              <a:t>using namespace std;</a:t>
            </a:r>
          </a:p>
          <a:p>
            <a:endParaRPr sz="2100" dirty="0"/>
          </a:p>
          <a:p>
            <a:r>
              <a:rPr sz="2100" dirty="0"/>
              <a:t>template &lt;class T&gt;</a:t>
            </a:r>
          </a:p>
          <a:p>
            <a:r>
              <a:rPr sz="2100" dirty="0"/>
              <a:t>void show(T a) {</a:t>
            </a:r>
          </a:p>
          <a:p>
            <a:r>
              <a:rPr sz="2100" dirty="0"/>
              <a:t>    </a:t>
            </a:r>
            <a:r>
              <a:rPr sz="2100" dirty="0" err="1"/>
              <a:t>cout</a:t>
            </a:r>
            <a:r>
              <a:rPr sz="2100" dirty="0"/>
              <a:t> &lt;&lt; "Generic: " &lt;&lt; a &lt;&lt; </a:t>
            </a:r>
            <a:r>
              <a:rPr sz="2100" dirty="0" err="1"/>
              <a:t>endl</a:t>
            </a:r>
            <a:r>
              <a:rPr sz="2100" dirty="0"/>
              <a:t>;</a:t>
            </a:r>
          </a:p>
          <a:p>
            <a:r>
              <a:rPr sz="2100" dirty="0"/>
              <a:t>}</a:t>
            </a:r>
          </a:p>
          <a:p>
            <a:endParaRPr sz="2100" dirty="0"/>
          </a:p>
          <a:p>
            <a:r>
              <a:rPr sz="2100" dirty="0"/>
              <a:t>void show(int a) {</a:t>
            </a:r>
          </a:p>
          <a:p>
            <a:r>
              <a:rPr sz="2100" dirty="0"/>
              <a:t>    </a:t>
            </a:r>
            <a:r>
              <a:rPr sz="2100" dirty="0" err="1"/>
              <a:t>cout</a:t>
            </a:r>
            <a:r>
              <a:rPr sz="2100" dirty="0"/>
              <a:t> &lt;&lt; "Integer: " &lt;&lt; a;</a:t>
            </a:r>
          </a:p>
          <a:p>
            <a:r>
              <a:rPr sz="2100" dirty="0"/>
              <a:t>}</a:t>
            </a:r>
          </a:p>
          <a:p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4D728A4-8E52-25FD-7AA4-D20C121BD8F4}"/>
              </a:ext>
            </a:extLst>
          </p:cNvPr>
          <p:cNvSpPr txBox="1"/>
          <p:nvPr/>
        </p:nvSpPr>
        <p:spPr>
          <a:xfrm>
            <a:off x="5846976" y="1737360"/>
            <a:ext cx="609442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  <a:p>
            <a:r>
              <a:rPr lang="en-I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int main() {</a:t>
            </a:r>
          </a:p>
          <a:p>
            <a:r>
              <a:rPr lang="en-I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show(10);</a:t>
            </a:r>
          </a:p>
          <a:p>
            <a:r>
              <a:rPr lang="en-I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show(3.14);</a:t>
            </a:r>
          </a:p>
          <a:p>
            <a:r>
              <a:rPr lang="en-I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}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1" dirty="0">
                <a:solidFill>
                  <a:srgbClr val="0070C0"/>
                </a:solidFill>
                <a:latin typeface="Aptos" panose="020B0004020202020204" pitchFamily="34" charset="0"/>
              </a:rPr>
              <a:t>Template Function vs Normal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Normal Function:</a:t>
            </a:r>
          </a:p>
          <a:p>
            <a:r>
              <a:t>• Works for one data type</a:t>
            </a:r>
          </a:p>
          <a:p>
            <a:r>
              <a:t>• Code duplication required</a:t>
            </a:r>
          </a:p>
          <a:p>
            <a:endParaRPr/>
          </a:p>
          <a:p>
            <a:r>
              <a:t>Template Function:</a:t>
            </a:r>
          </a:p>
          <a:p>
            <a:r>
              <a:t>• Works for multiple data types</a:t>
            </a:r>
          </a:p>
          <a:p>
            <a:r>
              <a:t>• Reusable and flexible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1" dirty="0">
                <a:solidFill>
                  <a:srgbClr val="0070C0"/>
                </a:solidFill>
                <a:latin typeface="Aptos" panose="020B0004020202020204" pitchFamily="34" charset="0"/>
              </a:rPr>
              <a:t>Advantages of Templates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Code reusability</a:t>
            </a:r>
          </a:p>
          <a:p>
            <a:r>
              <a:t>• Type safety</a:t>
            </a:r>
          </a:p>
          <a:p>
            <a:r>
              <a:t>• Supports generic programming</a:t>
            </a:r>
          </a:p>
          <a:p>
            <a:r>
              <a:t>• Reduces code redundancy</a:t>
            </a:r>
          </a:p>
          <a:p>
            <a:r>
              <a:t>• Used in STL (vector, list, map, set)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 dirty="0">
                <a:solidFill>
                  <a:srgbClr val="0070C0"/>
                </a:solidFill>
                <a:latin typeface="Aptos" panose="020B0004020202020204" pitchFamily="34" charset="0"/>
              </a:rPr>
              <a:t>Disadvantages of Templates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Complex syntax for beginners</a:t>
            </a:r>
          </a:p>
          <a:p>
            <a:r>
              <a:t>• Compilation time increases</a:t>
            </a:r>
          </a:p>
          <a:p>
            <a:r>
              <a:t>• Debugging can be difficult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1" dirty="0">
                <a:solidFill>
                  <a:srgbClr val="0070C0"/>
                </a:solidFill>
                <a:latin typeface="Aptos" panose="020B0004020202020204" pitchFamily="34" charset="0"/>
              </a:rPr>
              <a:t>Important Exam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Explain templates in C++ with syntax and example</a:t>
            </a:r>
          </a:p>
          <a:p>
            <a:r>
              <a:t>2. Function template vs class template</a:t>
            </a:r>
          </a:p>
          <a:p>
            <a:r>
              <a:t>3. Explain generic programming in C++</a:t>
            </a:r>
          </a:p>
          <a:p>
            <a:r>
              <a:t>4. Template function overloading with example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1" dirty="0">
                <a:solidFill>
                  <a:srgbClr val="0070C0"/>
                </a:solidFill>
                <a:latin typeface="Aptos" panose="020B0004020202020204" pitchFamily="34" charset="0"/>
              </a:rPr>
              <a:t>MCQs – Practice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Templates support:</a:t>
            </a:r>
          </a:p>
          <a:p>
            <a:r>
              <a:t>a) Generic Programming  b) Only int type</a:t>
            </a:r>
          </a:p>
          <a:p>
            <a:r>
              <a:t>c) Only float type  d) File handling</a:t>
            </a:r>
          </a:p>
          <a:p>
            <a:endParaRPr/>
          </a:p>
          <a:p>
            <a:r>
              <a:t>2. Keyword used for templates is:</a:t>
            </a:r>
          </a:p>
          <a:p>
            <a:r>
              <a:t>a) generic  b) template  c) class  d) type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10</TotalTime>
  <Words>798</Words>
  <Application>Microsoft Office PowerPoint</Application>
  <PresentationFormat>Widescreen</PresentationFormat>
  <Paragraphs>154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Aptos</vt:lpstr>
      <vt:lpstr>Calibri</vt:lpstr>
      <vt:lpstr>Calibri Light</vt:lpstr>
      <vt:lpstr>Raleway</vt:lpstr>
      <vt:lpstr>Wingdings</vt:lpstr>
      <vt:lpstr>Retrospect</vt:lpstr>
      <vt:lpstr>MODULE-1 INTRODUCTION TO C++</vt:lpstr>
      <vt:lpstr>Session Outcomes</vt:lpstr>
      <vt:lpstr>What is a Template in C++?</vt:lpstr>
      <vt:lpstr>Need of Templates</vt:lpstr>
      <vt:lpstr>Real World Analogy</vt:lpstr>
      <vt:lpstr>Types of Templates in C++</vt:lpstr>
      <vt:lpstr>Function Template – Definition</vt:lpstr>
      <vt:lpstr>Syntax of Function Template</vt:lpstr>
      <vt:lpstr>Program: Function Template Example</vt:lpstr>
      <vt:lpstr>Explanation: Function Template</vt:lpstr>
      <vt:lpstr>Class Template – Definition</vt:lpstr>
      <vt:lpstr>Syntax of Class Template</vt:lpstr>
      <vt:lpstr>Program: Class Template Example</vt:lpstr>
      <vt:lpstr>Generic Programming using Templates</vt:lpstr>
      <vt:lpstr>Template Function Overloading</vt:lpstr>
      <vt:lpstr>Program: Template Function Overloading</vt:lpstr>
      <vt:lpstr>Template Function vs Normal Function</vt:lpstr>
      <vt:lpstr>Advantages of Templates</vt:lpstr>
      <vt:lpstr>Disadvantages of Templates</vt:lpstr>
      <vt:lpstr>Important Exam Questions</vt:lpstr>
      <vt:lpstr>MCQs – Practice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hp</dc:creator>
  <cp:keywords/>
  <dc:description>generated using python-pptx</dc:description>
  <cp:lastModifiedBy>Ganesh Deshmukh</cp:lastModifiedBy>
  <cp:revision>2</cp:revision>
  <dcterms:created xsi:type="dcterms:W3CDTF">2013-01-27T09:14:16Z</dcterms:created>
  <dcterms:modified xsi:type="dcterms:W3CDTF">2026-02-19T10:42:45Z</dcterms:modified>
  <cp:category/>
</cp:coreProperties>
</file>