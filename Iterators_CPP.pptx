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31720"/>
            <a:ext cx="50292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C++ STL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C++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· Access · Navigate any STL Container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548640"/>
            <a:ext cx="2286000" cy="4114800"/>
          </a:xfrm>
          <a:prstGeom prst="rect">
            <a:avLst/>
          </a:prstGeom>
          <a:solidFill>
            <a:srgbClr val="0F6B77"/>
          </a:solidFill>
          <a:ln w="12700">
            <a:solidFill>
              <a:srgbClr val="0F6B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685800"/>
            <a:ext cx="2011680" cy="3840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→ →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20840" y="2377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Ganesh Deshmukh  ·  Assistant Professor,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iterator is and why it is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iterators in C++ with syntax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with vectors, lists, and maps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051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iterator categories clearly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0312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in real C++ programs with STL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ITERATOR?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iterator is an object that points to an element inside a container and lets you traverse it — like a cursor or pointer that knows how to move through any STL structure.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vector&lt;int&gt; v = {10, 20, 30, 40, 50};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188720" cy="822960"/>
          </a:xfrm>
          <a:prstGeom prst="rect">
            <a:avLst/>
          </a:prstGeom>
          <a:solidFill>
            <a:srgbClr val="EEF4F7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2423160"/>
            <a:ext cx="1188720" cy="822960"/>
          </a:xfrm>
          <a:prstGeom prst="rect">
            <a:avLst/>
          </a:prstGeom>
          <a:solidFill>
            <a:srgbClr val="EEF4F7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37744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423160"/>
            <a:ext cx="1188720" cy="822960"/>
          </a:xfrm>
          <a:prstGeom prst="rect">
            <a:avLst/>
          </a:prstGeom>
          <a:solidFill>
            <a:srgbClr val="EEF4F7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2423160"/>
            <a:ext cx="1188720" cy="822960"/>
          </a:xfrm>
          <a:prstGeom prst="rect">
            <a:avLst/>
          </a:prstGeom>
          <a:solidFill>
            <a:srgbClr val="EEF4F7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423160"/>
            <a:ext cx="1188720" cy="822960"/>
          </a:xfrm>
          <a:prstGeom prst="rect">
            <a:avLst/>
          </a:prstGeom>
          <a:solidFill>
            <a:srgbClr val="EEF4F7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566160"/>
            <a:ext cx="18288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931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1463040" cy="2926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60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begin()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566160"/>
            <a:ext cx="182880" cy="4572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3931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4160520"/>
            <a:ext cx="1463040" cy="292608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160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end()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++it moves to next element     *it dereferences (reads value)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ITERATORS? — The Problem They Solve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Iterators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vector — need index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i=0; i&lt;v.size(); i++)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v[i];
</a:t>
            </a:r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list — NO index!
</a:t>
            </a:r>
            <a:pPr indent="0" marL="0">
              <a:buNone/>
            </a:pPr>
            <a:r>
              <a:rPr lang="en-US" sz="11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list&lt;int&gt; has no [] operator
</a:t>
            </a:r>
            <a:pPr indent="0" marL="0">
              <a:buNone/>
            </a:pPr>
            <a:r>
              <a:rPr lang="en-US" sz="11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 use DIFFERENT syntax
</a:t>
            </a:r>
            <a:pPr indent="0" marL="0">
              <a:buNone/>
            </a:pPr>
            <a:r>
              <a:rPr lang="en-US" sz="11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 container type!
</a:t>
            </a:r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Not uniform across containers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Iterators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 for vector, list, map!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v.begin();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it != v.end(); ++it)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*it;
</a:t>
            </a:r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syntax for list!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lst.begin();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it != lst.end(); ++it)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*it;
</a:t>
            </a:r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Uniform interface for all!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ITERATORS IN C++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Hierarchy:  Input ⊂ Forward ⊂ Bidirectional ⊂ Random Access     |     Output (write-only)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1600200" cy="502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81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728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istream_iterator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single-pass forward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697480"/>
            <a:ext cx="1463040" cy="1828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90779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*it (read)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++it (advance)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==, !=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950208"/>
            <a:ext cx="1463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cin, files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93392" y="1481328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1481328"/>
            <a:ext cx="1600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481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39112" y="1728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ostream_iterator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66544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Write-only, single-pass forward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66544" y="2697480"/>
            <a:ext cx="146304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66544" y="290779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*it = val (write)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++it (advance)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66544" y="3950208"/>
            <a:ext cx="1463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cout, 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12464" y="1481328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12464" y="1481328"/>
            <a:ext cx="1600200" cy="50292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1481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58184" y="1728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forward_list::it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85616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Read+Write, multi-pass forward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85616" y="2697480"/>
            <a:ext cx="1463040" cy="182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85616" y="290779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All Input ops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Multi-pass allowed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85616" y="3950208"/>
            <a:ext cx="1463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forward_list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1481328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31536" y="1481328"/>
            <a:ext cx="1600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1481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77256" y="1728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list::iterator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04688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traversal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04688" y="2697480"/>
            <a:ext cx="14630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4688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04688" y="290779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All Forward ops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--it (go back)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04688" y="3950208"/>
            <a:ext cx="1463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list, map, set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50608" y="1481328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50608" y="1481328"/>
            <a:ext cx="160020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1481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Access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96328" y="1728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vector::iterator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any position instantly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23760" y="2697480"/>
            <a:ext cx="146304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23760" y="290779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All Bidi ops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it+n, it-n, it[n]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23760" y="3950208"/>
            <a:ext cx="1463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vector, deque, array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 SYNTAX &amp; OPERATIONS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21208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iterator_syntax.cpp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
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&lt;vector&gt;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{10,20,30,40,50};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Declare iterator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::iterator it;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begin() points to first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 = v.begin(); it != v.end(); ++it)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10 20 30 40 50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auto shorthand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: v)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x;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914400"/>
            <a:ext cx="109728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50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v.begin()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iterator to first element of container.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73736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37360"/>
            <a:ext cx="10972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773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v.end()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084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PAST the last element — never dereference!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56032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560320"/>
            <a:ext cx="109728" cy="7315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596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Dereference — reads the value the iterator points 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38328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383280"/>
            <a:ext cx="109728" cy="73152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419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++it  /  --it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7307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forward or step backward (if bidirectional).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420624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4206240"/>
            <a:ext cx="10972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242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+ n  /  it[n]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45537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— jump n positions (vector only).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ITERATORS WITH list &amp; map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6052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list_iterator.cpp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977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&lt;list&gt;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{5,10,15};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::iterator it;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(it=lst.begin();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it!=lst.end(); ++it)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Go backward (bidi!)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--it;  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at 15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*it;  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6052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map_iterator.cpp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3977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&lt;map&gt;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m[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25;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m[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90;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it-&gt;first = key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it-&gt;second = value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it=m.begin();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it!=m.end(); ++it)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it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-&gt;first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&lt;&lt;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-&gt;second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ITERATORS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reverse_iterator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rbegin() → rend()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container BACKWARDS — from last to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for(auto it=v.rbegin(); it!=v.rend(); ++it)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*it;  // 50 40 30 20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const_iterator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1978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cbegin() → cend()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iterator — cannot modify elements via this.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562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vector&lt;int&gt;::const_iterator 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for(it=v.cbegin(); it!=v.cend(); ++it)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*it;  // cannot *it=5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41148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insert_iterator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09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inserter(c, pos)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elements into container at specified position.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6791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copy(src.begin(), src.end(),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inserter(dest, dest.begin()));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411480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71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istream_iterator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209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istream_iterator&lt;T&gt;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values from input stream (cin or file) lazily.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840480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6791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istream_iterator&lt;int&gt; it(cin),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v(it, end);  // read all ints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 TYPES — Full Comparison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43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868680"/>
            <a:ext cx="1143000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868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
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868680"/>
            <a:ext cx="1143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868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868680"/>
            <a:ext cx="1143000" cy="5943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868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FORWARD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868680"/>
            <a:ext cx="11430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868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868680"/>
            <a:ext cx="114300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868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80467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554480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544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*it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1554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1554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1554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554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1554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002536"/>
            <a:ext cx="8046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002536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0253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*it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20025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20025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20025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0025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20025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450592"/>
            <a:ext cx="80467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450592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45059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08760" y="24505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0" y="24505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77640" y="24505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4505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24505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2898648"/>
            <a:ext cx="8046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898648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89864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08760" y="28986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0" y="28986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77640" y="28986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28986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46520" y="28986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4320" y="3346704"/>
            <a:ext cx="80467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346704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46704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508760" y="33467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33467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977640" y="33467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12080" y="33467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46520" y="33467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3794760"/>
            <a:ext cx="8046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3794760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794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it[n]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508760" y="37947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37947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977640" y="37947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12080" y="37947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46520" y="37947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74320" y="4242816"/>
            <a:ext cx="80467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4242816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24281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508760" y="424281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743200" y="424281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212080" y="424281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46520" y="424281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74320" y="4690872"/>
            <a:ext cx="8046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690872"/>
            <a:ext cx="54864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69087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example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508760" y="4690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istream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743200" y="4690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ostream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977640" y="4690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212080" y="4690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46520" y="4690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 ITERATOR? — Decision Guide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6420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1664208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istream_iterator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1591056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 values from stream or 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Single-pass scan, no revisit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cin, ifstream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3072384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write 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356616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go backwards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914400"/>
            <a:ext cx="166420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56816" y="914400"/>
            <a:ext cx="16642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914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02536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ostream_iterator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29968" y="1591056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Write values to stream or file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20848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cout, ofstream targets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29968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with copy() algorithm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29968" y="3072384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read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9968" y="356616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Single-pass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30752" y="914400"/>
            <a:ext cx="166420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30752" y="914400"/>
            <a:ext cx="1664208" cy="5943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914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76472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forward_list::it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03904" y="1591056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Multi-pass forward traversal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03904" y="20848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 and write elements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03904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forward_list, unordered_map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03904" y="3072384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go backwards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03904" y="356616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random access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04688" y="914400"/>
            <a:ext cx="166420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04688" y="914400"/>
            <a:ext cx="16642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914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0408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list::iterator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77840" y="1591056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Forward and backward traversal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20848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list, map, set, multimap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++it and --it both 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072384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random jump (it+5)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356616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Slower than random access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78624" y="914400"/>
            <a:ext cx="166420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78624" y="914400"/>
            <a:ext cx="166420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24344" y="914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ACCESS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24344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vector::iterator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51776" y="1591056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Jump to any position instantly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51776" y="20848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vector, deque, array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51776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it+n, it-n, it[n]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51776" y="3072384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operations available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51776" y="356616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for list or map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Important Exam Questions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3716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iterator. What is its role in C++ STL?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93392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933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99339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explain the 5 types of iterators with examples.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61518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iterator and const_iterator?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36976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369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323697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using iterator to traverse a vector.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58768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58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8587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reverse_iterator with a program example.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914400"/>
            <a:ext cx="342900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MCQ Practice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137160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supports it+n?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17830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Input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7830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Forward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130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Random 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130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260604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begin() returns: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017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Last element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3017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First element 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3649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Size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33649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end()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384048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iterator uses: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42519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begin()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42519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rbegin() 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4599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cbegin()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4599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ibegin()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Learned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20040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109728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→→→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0756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Pointer-like objects that traverse any STL container uniformly.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600200"/>
            <a:ext cx="109728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8928" y="20756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Forward, Bidirectional, Random Access — each adds capability.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Types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6301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reverse_iterator, const_iterator, insert_iterator, istream_iterator.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15468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54680"/>
            <a:ext cx="109728" cy="1371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36301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decouple algorithms from containers — sort works on any range.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Ganesh Deshmukh  ·  Assistant Professor, CSE  ·  MODULE I — C++ STL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Iterators in C++</dc:title>
  <dc:subject>PptxGenJS Presentation</dc:subject>
  <dc:creator>PptxGenJS</dc:creator>
  <cp:lastModifiedBy>PptxGenJS</cp:lastModifiedBy>
  <cp:revision>1</cp:revision>
  <dcterms:created xsi:type="dcterms:W3CDTF">2026-03-05T04:38:19Z</dcterms:created>
  <dcterms:modified xsi:type="dcterms:W3CDTF">2026-03-05T04:38:19Z</dcterms:modified>
</cp:coreProperties>
</file>